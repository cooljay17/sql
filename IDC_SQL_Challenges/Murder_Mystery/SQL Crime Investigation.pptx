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3C7C18-1491-4EF1-A9DA-297CAC357D33}" v="7" dt="2025-11-28T19:11:51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nthi Manickam Sethu" userId="3376e890a3648195" providerId="LiveId" clId="{ECF4A486-6D2C-475A-BBA0-B40D24035151}"/>
    <pc:docChg chg="undo custSel delSld modSld">
      <pc:chgData name="Jayanthi Manickam Sethu" userId="3376e890a3648195" providerId="LiveId" clId="{ECF4A486-6D2C-475A-BBA0-B40D24035151}" dt="2025-11-28T19:12:25.506" v="240" actId="14100"/>
      <pc:docMkLst>
        <pc:docMk/>
      </pc:docMkLst>
      <pc:sldChg chg="delSp modSp mod">
        <pc:chgData name="Jayanthi Manickam Sethu" userId="3376e890a3648195" providerId="LiveId" clId="{ECF4A486-6D2C-475A-BBA0-B40D24035151}" dt="2025-11-28T19:03:31.517" v="118" actId="120"/>
        <pc:sldMkLst>
          <pc:docMk/>
          <pc:sldMk cId="0" sldId="258"/>
        </pc:sldMkLst>
        <pc:spChg chg="mod">
          <ac:chgData name="Jayanthi Manickam Sethu" userId="3376e890a3648195" providerId="LiveId" clId="{ECF4A486-6D2C-475A-BBA0-B40D24035151}" dt="2025-11-28T19:03:31.517" v="118" actId="120"/>
          <ac:spMkLst>
            <pc:docMk/>
            <pc:sldMk cId="0" sldId="258"/>
            <ac:spMk id="2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1:20.185" v="44" actId="6549"/>
          <ac:spMkLst>
            <pc:docMk/>
            <pc:sldMk cId="0" sldId="258"/>
            <ac:spMk id="5" creationId="{00000000-0000-0000-0000-000000000000}"/>
          </ac:spMkLst>
        </pc:spChg>
        <pc:spChg chg="del">
          <ac:chgData name="Jayanthi Manickam Sethu" userId="3376e890a3648195" providerId="LiveId" clId="{ECF4A486-6D2C-475A-BBA0-B40D24035151}" dt="2025-11-28T19:01:41.950" v="105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Jayanthi Manickam Sethu" userId="3376e890a3648195" providerId="LiveId" clId="{ECF4A486-6D2C-475A-BBA0-B40D24035151}" dt="2025-11-28T19:01:50.900" v="106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Jayanthi Manickam Sethu" userId="3376e890a3648195" providerId="LiveId" clId="{ECF4A486-6D2C-475A-BBA0-B40D24035151}" dt="2025-11-28T19:02:11.539" v="107" actId="21"/>
          <ac:spMkLst>
            <pc:docMk/>
            <pc:sldMk cId="0" sldId="258"/>
            <ac:spMk id="8" creationId="{00000000-0000-0000-0000-000000000000}"/>
          </ac:spMkLst>
        </pc:spChg>
        <pc:spChg chg="del">
          <ac:chgData name="Jayanthi Manickam Sethu" userId="3376e890a3648195" providerId="LiveId" clId="{ECF4A486-6D2C-475A-BBA0-B40D24035151}" dt="2025-11-28T19:01:35.794" v="103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Jayanthi Manickam Sethu" userId="3376e890a3648195" providerId="LiveId" clId="{ECF4A486-6D2C-475A-BBA0-B40D24035151}" dt="2025-11-28T19:02:23.717" v="109" actId="2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Jayanthi Manickam Sethu" userId="3376e890a3648195" providerId="LiveId" clId="{ECF4A486-6D2C-475A-BBA0-B40D24035151}" dt="2025-11-28T19:01:38.453" v="104" actId="478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1:28.630" v="102" actId="20577"/>
          <ac:spMkLst>
            <pc:docMk/>
            <pc:sldMk cId="0" sldId="258"/>
            <ac:spMk id="12" creationId="{00000000-0000-0000-0000-000000000000}"/>
          </ac:spMkLst>
        </pc:spChg>
      </pc:sldChg>
      <pc:sldChg chg="delSp modSp mod">
        <pc:chgData name="Jayanthi Manickam Sethu" userId="3376e890a3648195" providerId="LiveId" clId="{ECF4A486-6D2C-475A-BBA0-B40D24035151}" dt="2025-11-28T19:04:30.665" v="129" actId="14100"/>
        <pc:sldMkLst>
          <pc:docMk/>
          <pc:sldMk cId="0" sldId="259"/>
        </pc:sldMkLst>
        <pc:spChg chg="mod">
          <ac:chgData name="Jayanthi Manickam Sethu" userId="3376e890a3648195" providerId="LiveId" clId="{ECF4A486-6D2C-475A-BBA0-B40D24035151}" dt="2025-11-28T19:04:30.665" v="129" actId="14100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yanthi Manickam Sethu" userId="3376e890a3648195" providerId="LiveId" clId="{ECF4A486-6D2C-475A-BBA0-B40D24035151}" dt="2025-11-28T19:03:52.659" v="120" actId="478"/>
          <ac:spMkLst>
            <pc:docMk/>
            <pc:sldMk cId="0" sldId="259"/>
            <ac:spMk id="5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4:02.569" v="123" actId="6549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Jayanthi Manickam Sethu" userId="3376e890a3648195" providerId="LiveId" clId="{ECF4A486-6D2C-475A-BBA0-B40D24035151}" dt="2025-11-28T19:03:58.580" v="122" actId="478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Jayanthi Manickam Sethu" userId="3376e890a3648195" providerId="LiveId" clId="{ECF4A486-6D2C-475A-BBA0-B40D24035151}" dt="2025-11-28T19:05:53.868" v="139" actId="1076"/>
        <pc:sldMkLst>
          <pc:docMk/>
          <pc:sldMk cId="0" sldId="260"/>
        </pc:sldMkLst>
        <pc:spChg chg="del mod">
          <ac:chgData name="Jayanthi Manickam Sethu" userId="3376e890a3648195" providerId="LiveId" clId="{ECF4A486-6D2C-475A-BBA0-B40D24035151}" dt="2025-11-28T19:04:48.053" v="131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5:53.868" v="139" actId="1076"/>
          <ac:spMkLst>
            <pc:docMk/>
            <pc:sldMk cId="0" sldId="260"/>
            <ac:spMk id="5" creationId="{00000000-0000-0000-0000-000000000000}"/>
          </ac:spMkLst>
        </pc:spChg>
      </pc:sldChg>
      <pc:sldChg chg="delSp modSp mod">
        <pc:chgData name="Jayanthi Manickam Sethu" userId="3376e890a3648195" providerId="LiveId" clId="{ECF4A486-6D2C-475A-BBA0-B40D24035151}" dt="2025-11-28T19:06:49.844" v="149" actId="14100"/>
        <pc:sldMkLst>
          <pc:docMk/>
          <pc:sldMk cId="0" sldId="261"/>
        </pc:sldMkLst>
        <pc:spChg chg="del mod">
          <ac:chgData name="Jayanthi Manickam Sethu" userId="3376e890a3648195" providerId="LiveId" clId="{ECF4A486-6D2C-475A-BBA0-B40D24035151}" dt="2025-11-28T19:06:05.126" v="14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6:49.844" v="149" actId="14100"/>
          <ac:spMkLst>
            <pc:docMk/>
            <pc:sldMk cId="0" sldId="261"/>
            <ac:spMk id="5" creationId="{00000000-0000-0000-0000-000000000000}"/>
          </ac:spMkLst>
        </pc:spChg>
      </pc:sldChg>
      <pc:sldChg chg="delSp modSp mod">
        <pc:chgData name="Jayanthi Manickam Sethu" userId="3376e890a3648195" providerId="LiveId" clId="{ECF4A486-6D2C-475A-BBA0-B40D24035151}" dt="2025-11-28T19:07:43.104" v="158" actId="1076"/>
        <pc:sldMkLst>
          <pc:docMk/>
          <pc:sldMk cId="0" sldId="262"/>
        </pc:sldMkLst>
        <pc:spChg chg="del">
          <ac:chgData name="Jayanthi Manickam Sethu" userId="3376e890a3648195" providerId="LiveId" clId="{ECF4A486-6D2C-475A-BBA0-B40D24035151}" dt="2025-11-28T19:06:59.641" v="150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7:43.104" v="158" actId="1076"/>
          <ac:spMkLst>
            <pc:docMk/>
            <pc:sldMk cId="0" sldId="262"/>
            <ac:spMk id="5" creationId="{00000000-0000-0000-0000-000000000000}"/>
          </ac:spMkLst>
        </pc:spChg>
      </pc:sldChg>
      <pc:sldChg chg="delSp modSp mod">
        <pc:chgData name="Jayanthi Manickam Sethu" userId="3376e890a3648195" providerId="LiveId" clId="{ECF4A486-6D2C-475A-BBA0-B40D24035151}" dt="2025-11-28T19:08:41.901" v="167" actId="27636"/>
        <pc:sldMkLst>
          <pc:docMk/>
          <pc:sldMk cId="0" sldId="263"/>
        </pc:sldMkLst>
        <pc:spChg chg="mod">
          <ac:chgData name="Jayanthi Manickam Sethu" userId="3376e890a3648195" providerId="LiveId" clId="{ECF4A486-6D2C-475A-BBA0-B40D24035151}" dt="2025-11-28T19:08:41.901" v="167" actId="27636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Jayanthi Manickam Sethu" userId="3376e890a3648195" providerId="LiveId" clId="{ECF4A486-6D2C-475A-BBA0-B40D24035151}" dt="2025-11-28T19:08:04.682" v="160" actId="478"/>
          <ac:spMkLst>
            <pc:docMk/>
            <pc:sldMk cId="0" sldId="263"/>
            <ac:spMk id="5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8:13.951" v="162" actId="6549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Jayanthi Manickam Sethu" userId="3376e890a3648195" providerId="LiveId" clId="{ECF4A486-6D2C-475A-BBA0-B40D24035151}" dt="2025-11-28T19:09:55.472" v="174" actId="1076"/>
        <pc:sldMkLst>
          <pc:docMk/>
          <pc:sldMk cId="0" sldId="264"/>
        </pc:sldMkLst>
        <pc:spChg chg="mod">
          <ac:chgData name="Jayanthi Manickam Sethu" userId="3376e890a3648195" providerId="LiveId" clId="{ECF4A486-6D2C-475A-BBA0-B40D24035151}" dt="2025-11-28T19:09:23.663" v="171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35.090" v="172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45.080" v="173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55.472" v="174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8:54.154" v="168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23.663" v="171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23.663" v="171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35.090" v="172" actId="1076"/>
          <ac:spMkLst>
            <pc:docMk/>
            <pc:sldMk cId="0" sldId="264"/>
            <ac:spMk id="9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35.090" v="172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45.080" v="173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45.080" v="173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55.472" v="174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Jayanthi Manickam Sethu" userId="3376e890a3648195" providerId="LiveId" clId="{ECF4A486-6D2C-475A-BBA0-B40D24035151}" dt="2025-11-28T19:09:55.472" v="174" actId="1076"/>
          <ac:spMkLst>
            <pc:docMk/>
            <pc:sldMk cId="0" sldId="264"/>
            <ac:spMk id="14" creationId="{00000000-0000-0000-0000-000000000000}"/>
          </ac:spMkLst>
        </pc:spChg>
      </pc:sldChg>
      <pc:sldChg chg="del">
        <pc:chgData name="Jayanthi Manickam Sethu" userId="3376e890a3648195" providerId="LiveId" clId="{ECF4A486-6D2C-475A-BBA0-B40D24035151}" dt="2025-11-28T19:10:32.896" v="175" actId="2696"/>
        <pc:sldMkLst>
          <pc:docMk/>
          <pc:sldMk cId="0" sldId="265"/>
        </pc:sldMkLst>
      </pc:sldChg>
      <pc:sldChg chg="addSp delSp modSp mod">
        <pc:chgData name="Jayanthi Manickam Sethu" userId="3376e890a3648195" providerId="LiveId" clId="{ECF4A486-6D2C-475A-BBA0-B40D24035151}" dt="2025-11-28T19:12:25.506" v="240" actId="14100"/>
        <pc:sldMkLst>
          <pc:docMk/>
          <pc:sldMk cId="0" sldId="267"/>
        </pc:sldMkLst>
        <pc:spChg chg="add del mod">
          <ac:chgData name="Jayanthi Manickam Sethu" userId="3376e890a3648195" providerId="LiveId" clId="{ECF4A486-6D2C-475A-BBA0-B40D24035151}" dt="2025-11-28T19:12:25.506" v="240" actId="14100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97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3821" y="20955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91680" y="30480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8650" y="1218505"/>
            <a:ext cx="7886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CRIME INVESTIGATION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2485699" y="2742506"/>
            <a:ext cx="41725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the Mystery with Advanced SQL Queries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53077" y="3009206"/>
            <a:ext cx="36377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 • JOINs • Subqueries • INTERSECT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59273" y="3733106"/>
            <a:ext cx="2225356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16"/>
              </a:lnSpc>
              <a:buNone/>
            </a:pPr>
            <a:r>
              <a:rPr lang="en-US" sz="108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CEO Office Murder Mystery 🕵️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1268710"/>
            <a:ext cx="7886700" cy="883841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906941" y="257175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8650" y="628650"/>
            <a:ext cx="804443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Crime Scene Overview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95350" y="1497310"/>
            <a:ext cx="753922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CEO Office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5350" y="1710630"/>
            <a:ext cx="753922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&amp; Time:</a:t>
            </a:r>
            <a:r>
              <a:rPr lang="en-US" sz="12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October 15, 2025 | 20:00-21:00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3450" y="2304951"/>
            <a:ext cx="7581900" cy="1154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clause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Filter crime location and time window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all keycard access logs during incident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all subsequent investigation layers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906" y="1216550"/>
            <a:ext cx="8173444" cy="2926080"/>
          </a:xfrm>
          <a:prstGeom prst="rect">
            <a:avLst/>
          </a:prstGeom>
          <a:solidFill>
            <a:srgbClr val="1A1A1A"/>
          </a:solidFill>
          <a:ln w="6350">
            <a:solidFill>
              <a:srgbClr val="D4AF37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with </a:t>
            </a:r>
            <a:r>
              <a:rPr lang="en-GB" dirty="0" err="1">
                <a:solidFill>
                  <a:schemeClr val="bg1"/>
                </a:solidFill>
              </a:rPr>
              <a:t>crime_loc</a:t>
            </a:r>
            <a:r>
              <a:rPr lang="en-GB" dirty="0">
                <a:solidFill>
                  <a:schemeClr val="bg1"/>
                </a:solidFill>
              </a:rPr>
              <a:t> as(</a:t>
            </a:r>
          </a:p>
          <a:p>
            <a:r>
              <a:rPr lang="en-GB" dirty="0">
                <a:solidFill>
                  <a:schemeClr val="bg1"/>
                </a:solidFill>
              </a:rPr>
              <a:t>select *</a:t>
            </a:r>
          </a:p>
          <a:p>
            <a:r>
              <a:rPr lang="en-GB" dirty="0">
                <a:solidFill>
                  <a:schemeClr val="bg1"/>
                </a:solidFill>
              </a:rPr>
              <a:t>from </a:t>
            </a:r>
            <a:r>
              <a:rPr lang="en-GB" dirty="0" err="1">
                <a:solidFill>
                  <a:schemeClr val="bg1"/>
                </a:solidFill>
              </a:rPr>
              <a:t>keycard_logs</a:t>
            </a:r>
            <a:r>
              <a:rPr lang="en-GB" dirty="0">
                <a:solidFill>
                  <a:schemeClr val="bg1"/>
                </a:solidFill>
              </a:rPr>
              <a:t> kl</a:t>
            </a:r>
          </a:p>
          <a:p>
            <a:r>
              <a:rPr lang="en-GB" dirty="0">
                <a:solidFill>
                  <a:schemeClr val="bg1"/>
                </a:solidFill>
              </a:rPr>
              <a:t>where (</a:t>
            </a:r>
            <a:r>
              <a:rPr lang="en-GB" dirty="0" err="1">
                <a:solidFill>
                  <a:schemeClr val="bg1"/>
                </a:solidFill>
              </a:rPr>
              <a:t>entry_time</a:t>
            </a:r>
            <a:r>
              <a:rPr lang="en-GB" dirty="0">
                <a:solidFill>
                  <a:schemeClr val="bg1"/>
                </a:solidFill>
              </a:rPr>
              <a:t>&gt;='2025-10-15 20:00:00' and </a:t>
            </a:r>
            <a:r>
              <a:rPr lang="en-GB" dirty="0" err="1">
                <a:solidFill>
                  <a:schemeClr val="bg1"/>
                </a:solidFill>
              </a:rPr>
              <a:t>exit_time</a:t>
            </a:r>
            <a:r>
              <a:rPr lang="en-GB" dirty="0">
                <a:solidFill>
                  <a:schemeClr val="bg1"/>
                </a:solidFill>
              </a:rPr>
              <a:t>&lt;='2025-10-15 21:00:00')),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00050" y="398532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8650" y="628650"/>
            <a:ext cx="804443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1: Identify Where &amp; When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28650" y="1146771"/>
            <a:ext cx="804443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8650" y="2691705"/>
            <a:ext cx="8044434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1105231"/>
            <a:ext cx="7886700" cy="3132813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r>
              <a:rPr lang="en-GB" dirty="0" err="1">
                <a:solidFill>
                  <a:schemeClr val="bg1"/>
                </a:solidFill>
              </a:rPr>
              <a:t>critical_areas</a:t>
            </a:r>
            <a:r>
              <a:rPr lang="en-GB" dirty="0">
                <a:solidFill>
                  <a:schemeClr val="bg1"/>
                </a:solidFill>
              </a:rPr>
              <a:t> as(</a:t>
            </a:r>
          </a:p>
          <a:p>
            <a:r>
              <a:rPr lang="en-GB" dirty="0">
                <a:solidFill>
                  <a:schemeClr val="bg1"/>
                </a:solidFill>
              </a:rPr>
              <a:t>select </a:t>
            </a:r>
            <a:r>
              <a:rPr lang="en-GB" dirty="0" err="1">
                <a:solidFill>
                  <a:schemeClr val="bg1"/>
                </a:solidFill>
              </a:rPr>
              <a:t>kl.employee_id,name,department,role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room,</a:t>
            </a:r>
          </a:p>
          <a:p>
            <a:r>
              <a:rPr lang="en-GB" dirty="0" err="1">
                <a:solidFill>
                  <a:schemeClr val="bg1"/>
                </a:solidFill>
              </a:rPr>
              <a:t>entry_time,exit_time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from </a:t>
            </a:r>
            <a:r>
              <a:rPr lang="en-GB" dirty="0" err="1">
                <a:solidFill>
                  <a:schemeClr val="bg1"/>
                </a:solidFill>
              </a:rPr>
              <a:t>keycard_logs</a:t>
            </a:r>
            <a:r>
              <a:rPr lang="en-GB" dirty="0">
                <a:solidFill>
                  <a:schemeClr val="bg1"/>
                </a:solidFill>
              </a:rPr>
              <a:t> kl</a:t>
            </a:r>
          </a:p>
          <a:p>
            <a:r>
              <a:rPr lang="en-GB" dirty="0">
                <a:solidFill>
                  <a:schemeClr val="bg1"/>
                </a:solidFill>
              </a:rPr>
              <a:t>inner join employees e  on </a:t>
            </a:r>
            <a:r>
              <a:rPr lang="en-GB" dirty="0" err="1">
                <a:solidFill>
                  <a:schemeClr val="bg1"/>
                </a:solidFill>
              </a:rPr>
              <a:t>kl.employee_id</a:t>
            </a:r>
            <a:r>
              <a:rPr lang="en-GB" dirty="0">
                <a:solidFill>
                  <a:schemeClr val="bg1"/>
                </a:solidFill>
              </a:rPr>
              <a:t>=</a:t>
            </a:r>
            <a:r>
              <a:rPr lang="en-GB" dirty="0" err="1">
                <a:solidFill>
                  <a:schemeClr val="bg1"/>
                </a:solidFill>
              </a:rPr>
              <a:t>e.employee_id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where room='CEO Office'),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811691" y="408057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👆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8650" y="628650"/>
            <a:ext cx="8044434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48"/>
              </a:lnSpc>
              <a:buNone/>
            </a:pPr>
            <a:r>
              <a:rPr lang="en-US" sz="228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2: Who Was in Critical Areas?</a:t>
            </a:r>
            <a:endParaRPr lang="en-US" sz="2280" dirty="0"/>
          </a:p>
        </p:txBody>
      </p:sp>
      <p:sp>
        <p:nvSpPr>
          <p:cNvPr id="6" name="Text 4"/>
          <p:cNvSpPr/>
          <p:nvPr/>
        </p:nvSpPr>
        <p:spPr>
          <a:xfrm>
            <a:off x="895350" y="1749426"/>
            <a:ext cx="7539228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8223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⛓️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8650" y="628650"/>
            <a:ext cx="8044434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48"/>
              </a:lnSpc>
              <a:buNone/>
            </a:pPr>
            <a:r>
              <a:rPr lang="en-US" sz="228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3: Cross-Check Alibis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1158550" y="1207890"/>
            <a:ext cx="7581900" cy="3432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SzPct val="100000"/>
            </a:pPr>
            <a:r>
              <a:rPr lang="en-GB" sz="2000" dirty="0" err="1">
                <a:solidFill>
                  <a:schemeClr val="bg1"/>
                </a:solidFill>
              </a:rPr>
              <a:t>chk_alibis</a:t>
            </a:r>
            <a:r>
              <a:rPr lang="en-GB" sz="2000" dirty="0">
                <a:solidFill>
                  <a:schemeClr val="bg1"/>
                </a:solidFill>
              </a:rPr>
              <a:t> as(</a:t>
            </a: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select </a:t>
            </a:r>
            <a:r>
              <a:rPr lang="en-GB" sz="2000" dirty="0" err="1">
                <a:solidFill>
                  <a:schemeClr val="bg1"/>
                </a:solidFill>
              </a:rPr>
              <a:t>a.employee_id,name,department</a:t>
            </a:r>
            <a:r>
              <a:rPr lang="en-GB" sz="2000" dirty="0">
                <a:solidFill>
                  <a:schemeClr val="bg1"/>
                </a:solidFill>
              </a:rPr>
              <a:t>,</a:t>
            </a:r>
          </a:p>
          <a:p>
            <a:pPr>
              <a:buSzPct val="100000"/>
            </a:pPr>
            <a:r>
              <a:rPr lang="en-GB" sz="2000" dirty="0" err="1">
                <a:solidFill>
                  <a:schemeClr val="bg1"/>
                </a:solidFill>
              </a:rPr>
              <a:t>role,room</a:t>
            </a:r>
            <a:r>
              <a:rPr lang="en-GB" sz="2000" dirty="0">
                <a:solidFill>
                  <a:schemeClr val="bg1"/>
                </a:solidFill>
              </a:rPr>
              <a:t> as key_log_location,entry_time,exit_time,claimed_location,claim_time</a:t>
            </a: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from alibis a</a:t>
            </a: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inner join employees e  on </a:t>
            </a:r>
            <a:r>
              <a:rPr lang="en-GB" sz="2000" dirty="0" err="1">
                <a:solidFill>
                  <a:schemeClr val="bg1"/>
                </a:solidFill>
              </a:rPr>
              <a:t>a.employee_id</a:t>
            </a:r>
            <a:r>
              <a:rPr lang="en-GB" sz="2000" dirty="0">
                <a:solidFill>
                  <a:schemeClr val="bg1"/>
                </a:solidFill>
              </a:rPr>
              <a:t>=</a:t>
            </a:r>
            <a:r>
              <a:rPr lang="en-GB" sz="2000" dirty="0" err="1">
                <a:solidFill>
                  <a:schemeClr val="bg1"/>
                </a:solidFill>
              </a:rPr>
              <a:t>e.employee_id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inner join </a:t>
            </a:r>
            <a:r>
              <a:rPr lang="en-GB" sz="2000" dirty="0" err="1">
                <a:solidFill>
                  <a:schemeClr val="bg1"/>
                </a:solidFill>
              </a:rPr>
              <a:t>keycard_logs</a:t>
            </a:r>
            <a:r>
              <a:rPr lang="en-GB" sz="2000" dirty="0">
                <a:solidFill>
                  <a:schemeClr val="bg1"/>
                </a:solidFill>
              </a:rPr>
              <a:t> kl</a:t>
            </a: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 on </a:t>
            </a:r>
            <a:r>
              <a:rPr lang="en-GB" sz="2000" dirty="0" err="1">
                <a:solidFill>
                  <a:schemeClr val="bg1"/>
                </a:solidFill>
              </a:rPr>
              <a:t>kl.employee_id</a:t>
            </a:r>
            <a:r>
              <a:rPr lang="en-GB" sz="2000" dirty="0">
                <a:solidFill>
                  <a:schemeClr val="bg1"/>
                </a:solidFill>
              </a:rPr>
              <a:t>=</a:t>
            </a:r>
            <a:r>
              <a:rPr lang="en-GB" sz="2000" dirty="0" err="1">
                <a:solidFill>
                  <a:schemeClr val="bg1"/>
                </a:solidFill>
              </a:rPr>
              <a:t>e.employee_id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buSzPct val="100000"/>
            </a:pPr>
            <a:r>
              <a:rPr lang="en-GB" sz="2000" dirty="0">
                <a:solidFill>
                  <a:schemeClr val="bg1"/>
                </a:solidFill>
              </a:rPr>
              <a:t>where room&lt;&gt; </a:t>
            </a:r>
            <a:r>
              <a:rPr lang="en-GB" sz="2000" dirty="0" err="1">
                <a:solidFill>
                  <a:schemeClr val="bg1"/>
                </a:solidFill>
              </a:rPr>
              <a:t>claimed_location</a:t>
            </a:r>
            <a:r>
              <a:rPr lang="en-GB" sz="2000" dirty="0">
                <a:solidFill>
                  <a:schemeClr val="bg1"/>
                </a:solidFill>
              </a:rPr>
              <a:t>),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6941" y="379482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8650" y="628650"/>
            <a:ext cx="8044434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48"/>
              </a:lnSpc>
              <a:buNone/>
            </a:pPr>
            <a:r>
              <a:rPr lang="en-US" sz="228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4: Investigate Suspicious Calls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933450" y="1184744"/>
            <a:ext cx="7581900" cy="333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  <a:buSzPct val="100000"/>
            </a:pPr>
            <a:r>
              <a:rPr lang="en-US" sz="1350" dirty="0" err="1">
                <a:solidFill>
                  <a:schemeClr val="bg1"/>
                </a:solidFill>
              </a:rPr>
              <a:t>sus_calls</a:t>
            </a:r>
            <a:r>
              <a:rPr lang="en-US" sz="1350" dirty="0">
                <a:solidFill>
                  <a:schemeClr val="bg1"/>
                </a:solidFill>
              </a:rPr>
              <a:t> as(</a:t>
            </a: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select distinct </a:t>
            </a:r>
            <a:r>
              <a:rPr lang="en-US" sz="1350" dirty="0" err="1">
                <a:solidFill>
                  <a:schemeClr val="bg1"/>
                </a:solidFill>
              </a:rPr>
              <a:t>caller_id,ec.name</a:t>
            </a:r>
            <a:r>
              <a:rPr lang="en-US" sz="1350" dirty="0">
                <a:solidFill>
                  <a:schemeClr val="bg1"/>
                </a:solidFill>
              </a:rPr>
              <a:t> </a:t>
            </a:r>
            <a:r>
              <a:rPr lang="en-US" sz="1350" dirty="0" err="1">
                <a:solidFill>
                  <a:schemeClr val="bg1"/>
                </a:solidFill>
              </a:rPr>
              <a:t>caller_name,receiver_id,er.name</a:t>
            </a:r>
            <a:r>
              <a:rPr lang="en-US" sz="1350" dirty="0">
                <a:solidFill>
                  <a:schemeClr val="bg1"/>
                </a:solidFill>
              </a:rPr>
              <a:t>,*</a:t>
            </a: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from calls c inner join employees </a:t>
            </a:r>
            <a:r>
              <a:rPr lang="en-US" sz="1350" dirty="0" err="1">
                <a:solidFill>
                  <a:schemeClr val="bg1"/>
                </a:solidFill>
              </a:rPr>
              <a:t>ec</a:t>
            </a:r>
            <a:r>
              <a:rPr lang="en-US" sz="1350" dirty="0">
                <a:solidFill>
                  <a:schemeClr val="bg1"/>
                </a:solidFill>
              </a:rPr>
              <a:t>  on </a:t>
            </a:r>
            <a:r>
              <a:rPr lang="en-US" sz="1350" dirty="0" err="1">
                <a:solidFill>
                  <a:schemeClr val="bg1"/>
                </a:solidFill>
              </a:rPr>
              <a:t>ec.employee_id</a:t>
            </a:r>
            <a:r>
              <a:rPr lang="en-US" sz="1350" dirty="0">
                <a:solidFill>
                  <a:schemeClr val="bg1"/>
                </a:solidFill>
              </a:rPr>
              <a:t>=</a:t>
            </a:r>
            <a:r>
              <a:rPr lang="en-US" sz="1350" dirty="0" err="1">
                <a:solidFill>
                  <a:schemeClr val="bg1"/>
                </a:solidFill>
              </a:rPr>
              <a:t>c.caller_id</a:t>
            </a:r>
            <a:endParaRPr lang="en-US" sz="1350" dirty="0">
              <a:solidFill>
                <a:schemeClr val="bg1"/>
              </a:solidFill>
            </a:endParaRP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inner join employees er  on </a:t>
            </a:r>
            <a:r>
              <a:rPr lang="en-US" sz="1350" dirty="0" err="1">
                <a:solidFill>
                  <a:schemeClr val="bg1"/>
                </a:solidFill>
              </a:rPr>
              <a:t>er.employee_id</a:t>
            </a:r>
            <a:r>
              <a:rPr lang="en-US" sz="1350" dirty="0">
                <a:solidFill>
                  <a:schemeClr val="bg1"/>
                </a:solidFill>
              </a:rPr>
              <a:t>=</a:t>
            </a:r>
            <a:r>
              <a:rPr lang="en-US" sz="1350" dirty="0" err="1">
                <a:solidFill>
                  <a:schemeClr val="bg1"/>
                </a:solidFill>
              </a:rPr>
              <a:t>c.receiver_id</a:t>
            </a:r>
            <a:endParaRPr lang="en-US" sz="1350" dirty="0">
              <a:solidFill>
                <a:schemeClr val="bg1"/>
              </a:solidFill>
            </a:endParaRP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where </a:t>
            </a:r>
            <a:r>
              <a:rPr lang="en-US" sz="1350" dirty="0" err="1">
                <a:solidFill>
                  <a:schemeClr val="bg1"/>
                </a:solidFill>
              </a:rPr>
              <a:t>call_time</a:t>
            </a:r>
            <a:r>
              <a:rPr lang="en-US" sz="1350" dirty="0">
                <a:solidFill>
                  <a:schemeClr val="bg1"/>
                </a:solidFill>
              </a:rPr>
              <a:t> between '2025-10-15 20:00:00' and '2025-10-15 21:00:00'),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550" y="389007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28650" y="628650"/>
            <a:ext cx="8044434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48"/>
              </a:lnSpc>
              <a:buNone/>
            </a:pPr>
            <a:r>
              <a:rPr lang="en-US" sz="228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5: Match Evidence with Movements</a:t>
            </a:r>
            <a:endParaRPr lang="en-US" sz="2280" dirty="0"/>
          </a:p>
        </p:txBody>
      </p:sp>
      <p:sp>
        <p:nvSpPr>
          <p:cNvPr id="5" name="Text 3"/>
          <p:cNvSpPr/>
          <p:nvPr/>
        </p:nvSpPr>
        <p:spPr>
          <a:xfrm>
            <a:off x="933450" y="1112165"/>
            <a:ext cx="7581900" cy="3222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40"/>
              </a:lnSpc>
              <a:buSzPct val="100000"/>
            </a:pPr>
            <a:r>
              <a:rPr lang="en-US" sz="1350" dirty="0" err="1">
                <a:solidFill>
                  <a:schemeClr val="bg1"/>
                </a:solidFill>
              </a:rPr>
              <a:t>chk_evidence</a:t>
            </a:r>
            <a:r>
              <a:rPr lang="en-US" sz="1350" dirty="0">
                <a:solidFill>
                  <a:schemeClr val="bg1"/>
                </a:solidFill>
              </a:rPr>
              <a:t> as(</a:t>
            </a: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select </a:t>
            </a:r>
            <a:r>
              <a:rPr lang="en-US" sz="1350" dirty="0" err="1">
                <a:solidFill>
                  <a:schemeClr val="bg1"/>
                </a:solidFill>
              </a:rPr>
              <a:t>ev.room,description,found_time,entry_time,exit_time</a:t>
            </a:r>
            <a:r>
              <a:rPr lang="en-US" sz="1350" dirty="0">
                <a:solidFill>
                  <a:schemeClr val="bg1"/>
                </a:solidFill>
              </a:rPr>
              <a:t>,</a:t>
            </a:r>
          </a:p>
          <a:p>
            <a:pPr>
              <a:lnSpc>
                <a:spcPts val="3240"/>
              </a:lnSpc>
              <a:buSzPct val="100000"/>
            </a:pPr>
            <a:r>
              <a:rPr lang="en-US" sz="1350" dirty="0" err="1">
                <a:solidFill>
                  <a:schemeClr val="bg1"/>
                </a:solidFill>
              </a:rPr>
              <a:t>e.employee_id,name,department,role</a:t>
            </a:r>
            <a:endParaRPr lang="en-US" sz="1350" dirty="0">
              <a:solidFill>
                <a:schemeClr val="bg1"/>
              </a:solidFill>
            </a:endParaRP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from evidence </a:t>
            </a:r>
            <a:r>
              <a:rPr lang="en-US" sz="1350" dirty="0" err="1">
                <a:solidFill>
                  <a:schemeClr val="bg1"/>
                </a:solidFill>
              </a:rPr>
              <a:t>ev</a:t>
            </a:r>
            <a:endParaRPr lang="en-US" sz="1350" dirty="0">
              <a:solidFill>
                <a:schemeClr val="bg1"/>
              </a:solidFill>
            </a:endParaRP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inner join  </a:t>
            </a:r>
            <a:r>
              <a:rPr lang="en-US" sz="1350" dirty="0" err="1">
                <a:solidFill>
                  <a:schemeClr val="bg1"/>
                </a:solidFill>
              </a:rPr>
              <a:t>keycard_logs</a:t>
            </a:r>
            <a:r>
              <a:rPr lang="en-US" sz="1350" dirty="0">
                <a:solidFill>
                  <a:schemeClr val="bg1"/>
                </a:solidFill>
              </a:rPr>
              <a:t> kl on </a:t>
            </a:r>
            <a:r>
              <a:rPr lang="en-US" sz="1350" dirty="0" err="1">
                <a:solidFill>
                  <a:schemeClr val="bg1"/>
                </a:solidFill>
              </a:rPr>
              <a:t>ev.room</a:t>
            </a:r>
            <a:r>
              <a:rPr lang="en-US" sz="1350" dirty="0">
                <a:solidFill>
                  <a:schemeClr val="bg1"/>
                </a:solidFill>
              </a:rPr>
              <a:t>=</a:t>
            </a:r>
            <a:r>
              <a:rPr lang="en-US" sz="1350" dirty="0" err="1">
                <a:solidFill>
                  <a:schemeClr val="bg1"/>
                </a:solidFill>
              </a:rPr>
              <a:t>kl.room</a:t>
            </a:r>
            <a:r>
              <a:rPr lang="en-US" sz="1350" dirty="0">
                <a:solidFill>
                  <a:schemeClr val="bg1"/>
                </a:solidFill>
              </a:rPr>
              <a:t>  </a:t>
            </a: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inner join employees e  on </a:t>
            </a:r>
            <a:r>
              <a:rPr lang="en-US" sz="1350" dirty="0" err="1">
                <a:solidFill>
                  <a:schemeClr val="bg1"/>
                </a:solidFill>
              </a:rPr>
              <a:t>kl.employee_id</a:t>
            </a:r>
            <a:r>
              <a:rPr lang="en-US" sz="1350" dirty="0">
                <a:solidFill>
                  <a:schemeClr val="bg1"/>
                </a:solidFill>
              </a:rPr>
              <a:t>=</a:t>
            </a:r>
            <a:r>
              <a:rPr lang="en-US" sz="1350" dirty="0" err="1">
                <a:solidFill>
                  <a:schemeClr val="bg1"/>
                </a:solidFill>
              </a:rPr>
              <a:t>e.employee_id</a:t>
            </a:r>
            <a:endParaRPr lang="en-US" sz="1350" dirty="0">
              <a:solidFill>
                <a:schemeClr val="bg1"/>
              </a:solidFill>
            </a:endParaRPr>
          </a:p>
          <a:p>
            <a:pPr>
              <a:lnSpc>
                <a:spcPts val="3240"/>
              </a:lnSpc>
              <a:buSzPct val="100000"/>
            </a:pPr>
            <a:r>
              <a:rPr lang="en-US" sz="1350" dirty="0">
                <a:solidFill>
                  <a:schemeClr val="bg1"/>
                </a:solidFill>
              </a:rPr>
              <a:t>where </a:t>
            </a:r>
            <a:r>
              <a:rPr lang="en-US" sz="1350" dirty="0" err="1">
                <a:solidFill>
                  <a:schemeClr val="bg1"/>
                </a:solidFill>
              </a:rPr>
              <a:t>ev.room</a:t>
            </a:r>
            <a:r>
              <a:rPr lang="en-US" sz="1350" dirty="0">
                <a:solidFill>
                  <a:schemeClr val="bg1"/>
                </a:solidFill>
              </a:rPr>
              <a:t>='CEO Office')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1520826"/>
            <a:ext cx="7886700" cy="3146590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select Name as </a:t>
            </a:r>
            <a:r>
              <a:rPr lang="en-US" dirty="0" err="1">
                <a:solidFill>
                  <a:schemeClr val="bg1"/>
                </a:solidFill>
              </a:rPr>
              <a:t>Killer_name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crime_loc</a:t>
            </a:r>
            <a:r>
              <a:rPr lang="en-US" dirty="0">
                <a:solidFill>
                  <a:schemeClr val="bg1"/>
                </a:solidFill>
              </a:rPr>
              <a:t> cl inner join </a:t>
            </a:r>
            <a:r>
              <a:rPr lang="en-US" dirty="0" err="1">
                <a:solidFill>
                  <a:schemeClr val="bg1"/>
                </a:solidFill>
              </a:rPr>
              <a:t>critical_areas</a:t>
            </a:r>
            <a:r>
              <a:rPr lang="en-US" dirty="0">
                <a:solidFill>
                  <a:schemeClr val="bg1"/>
                </a:solidFill>
              </a:rPr>
              <a:t> ca on </a:t>
            </a:r>
            <a:r>
              <a:rPr lang="en-US" dirty="0" err="1">
                <a:solidFill>
                  <a:schemeClr val="bg1"/>
                </a:solidFill>
              </a:rPr>
              <a:t>cl.employee_id</a:t>
            </a:r>
            <a:r>
              <a:rPr lang="en-US" dirty="0">
                <a:solidFill>
                  <a:schemeClr val="bg1"/>
                </a:solidFill>
              </a:rPr>
              <a:t>=</a:t>
            </a:r>
            <a:r>
              <a:rPr lang="en-US" dirty="0" err="1">
                <a:solidFill>
                  <a:schemeClr val="bg1"/>
                </a:solidFill>
              </a:rPr>
              <a:t>ca.employee_id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intersect</a:t>
            </a:r>
          </a:p>
          <a:p>
            <a:r>
              <a:rPr lang="en-US" dirty="0">
                <a:solidFill>
                  <a:schemeClr val="bg1"/>
                </a:solidFill>
              </a:rPr>
              <a:t>select Name as </a:t>
            </a:r>
            <a:r>
              <a:rPr lang="en-US" dirty="0" err="1">
                <a:solidFill>
                  <a:schemeClr val="bg1"/>
                </a:solidFill>
              </a:rPr>
              <a:t>Killer_name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chk_evidence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intersect</a:t>
            </a:r>
          </a:p>
          <a:p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>
                <a:solidFill>
                  <a:schemeClr val="bg1"/>
                </a:solidFill>
              </a:rPr>
              <a:t>caller_name</a:t>
            </a:r>
            <a:r>
              <a:rPr lang="en-US" dirty="0">
                <a:solidFill>
                  <a:schemeClr val="bg1"/>
                </a:solidFill>
              </a:rPr>
              <a:t> as </a:t>
            </a:r>
            <a:r>
              <a:rPr lang="en-US" dirty="0" err="1">
                <a:solidFill>
                  <a:schemeClr val="bg1"/>
                </a:solidFill>
              </a:rPr>
              <a:t>Killer_name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>
                <a:solidFill>
                  <a:schemeClr val="bg1"/>
                </a:solidFill>
              </a:rPr>
              <a:t>sus_calls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sc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</a:rPr>
              <a:t>intersect</a:t>
            </a:r>
          </a:p>
          <a:p>
            <a:r>
              <a:rPr lang="en-US" dirty="0">
                <a:solidFill>
                  <a:schemeClr val="bg1"/>
                </a:solidFill>
              </a:rPr>
              <a:t>select Name as </a:t>
            </a:r>
            <a:r>
              <a:rPr lang="en-US" dirty="0" err="1">
                <a:solidFill>
                  <a:schemeClr val="bg1"/>
                </a:solidFill>
              </a:rPr>
              <a:t>Killer_name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from  </a:t>
            </a:r>
            <a:r>
              <a:rPr lang="en-US" dirty="0" err="1">
                <a:solidFill>
                  <a:schemeClr val="bg1"/>
                </a:solidFill>
              </a:rPr>
              <a:t>chk_alibis</a:t>
            </a:r>
            <a:r>
              <a:rPr lang="en-US" dirty="0">
                <a:solidFill>
                  <a:schemeClr val="bg1"/>
                </a:solidFill>
              </a:rPr>
              <a:t> cab;</a:t>
            </a:r>
          </a:p>
        </p:txBody>
      </p:sp>
      <p:sp>
        <p:nvSpPr>
          <p:cNvPr id="3" name="Text 1"/>
          <p:cNvSpPr/>
          <p:nvPr/>
        </p:nvSpPr>
        <p:spPr>
          <a:xfrm>
            <a:off x="7906941" y="20955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28650" y="628650"/>
            <a:ext cx="8044434" cy="347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648"/>
              </a:lnSpc>
              <a:buNone/>
            </a:pPr>
            <a:r>
              <a:rPr lang="en-US" sz="228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6: Identify the Killer</a:t>
            </a:r>
            <a:endParaRPr lang="en-US" sz="2280" dirty="0"/>
          </a:p>
        </p:txBody>
      </p:sp>
      <p:sp>
        <p:nvSpPr>
          <p:cNvPr id="6" name="Text 4"/>
          <p:cNvSpPr/>
          <p:nvPr/>
        </p:nvSpPr>
        <p:spPr>
          <a:xfrm>
            <a:off x="895350" y="1749428"/>
            <a:ext cx="7391400" cy="1823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36"/>
              </a:lnSpc>
              <a:buNone/>
            </a:pP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14" y="673004"/>
            <a:ext cx="7886700" cy="999530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21614" y="1748732"/>
            <a:ext cx="7886700" cy="999530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1614" y="2824460"/>
            <a:ext cx="7886700" cy="999530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8163" y="3900188"/>
            <a:ext cx="7886700" cy="999530"/>
          </a:xfrm>
          <a:prstGeom prst="rect">
            <a:avLst/>
          </a:prstGeom>
          <a:solidFill>
            <a:srgbClr val="1A1A1A"/>
          </a:solidFill>
          <a:ln/>
          <a:effectLst>
            <a:outerShdw blurRad="76200" dist="38100" dir="5400000" algn="bl" rotWithShape="0">
              <a:srgbClr val="000000">
                <a:alpha val="5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8163" y="63453"/>
            <a:ext cx="804443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Key SQL Concepts Mastered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88314" y="901604"/>
            <a:ext cx="75392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Filtering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8314" y="1252043"/>
            <a:ext cx="753922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WHERE, BETWEEN, temporal ranges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88314" y="1977332"/>
            <a:ext cx="75392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Joins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8314" y="2327771"/>
            <a:ext cx="753922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JOIN, multiple relationships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8314" y="3053060"/>
            <a:ext cx="75392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88314" y="3403499"/>
            <a:ext cx="753922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clause for modular queries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74863" y="4128788"/>
            <a:ext cx="753922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Operations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74863" y="4479227"/>
            <a:ext cx="7539228" cy="191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16"/>
              </a:lnSpc>
              <a:buNone/>
            </a:pPr>
            <a:r>
              <a:rPr lang="en-US" sz="108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 for multi-condition logic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50" y="628650"/>
            <a:ext cx="804443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Query Execution 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33450" y="1268713"/>
            <a:ext cx="7581900" cy="211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CTEs: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 WITH clauses executed sequentially (PostgreSQL feature)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 INNER JOIN operations (watch for performance!)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Recommend on timestamp and room columns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Requires identical column selection from all branches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</a:t>
            </a:r>
            <a:r>
              <a:rPr lang="en-US" sz="13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each CTE independently first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93821" y="209550"/>
            <a:ext cx="85375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6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156170" y="1322189"/>
            <a:ext cx="283156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Closed! 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527990" y="1886052"/>
            <a:ext cx="20879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150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Solved the Mystery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43771" y="2381352"/>
            <a:ext cx="6130456" cy="143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80"/>
              </a:lnSpc>
              <a:buSzPct val="100000"/>
            </a:pPr>
            <a:r>
              <a:rPr lang="en-US" sz="1200" dirty="0">
                <a:solidFill>
                  <a:schemeClr val="bg1"/>
                </a:solidFill>
              </a:rPr>
              <a:t>The KILLER is </a:t>
            </a:r>
          </a:p>
          <a:p>
            <a:pPr algn="ctr">
              <a:lnSpc>
                <a:spcPts val="2880"/>
              </a:lnSpc>
              <a:buSzPct val="100000"/>
            </a:pPr>
            <a:r>
              <a:rPr lang="en-US" sz="3200" dirty="0">
                <a:solidFill>
                  <a:schemeClr val="bg1"/>
                </a:solidFill>
                <a:latin typeface="Broadway" panose="04040905080B02020502" pitchFamily="82" charset="0"/>
              </a:rPr>
              <a:t>"David Kumar"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608</Words>
  <Application>Microsoft Office PowerPoint</Application>
  <PresentationFormat>On-screen Show (16:9)</PresentationFormat>
  <Paragraphs>98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Broadway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Jayanthi Manickam Sethu</cp:lastModifiedBy>
  <cp:revision>1</cp:revision>
  <dcterms:created xsi:type="dcterms:W3CDTF">2025-11-28T19:00:01Z</dcterms:created>
  <dcterms:modified xsi:type="dcterms:W3CDTF">2025-11-28T19:12:32Z</dcterms:modified>
</cp:coreProperties>
</file>